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0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-498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4087692-7D96-4B42-9C1F-EC1EE7ACD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360AD096-A41F-418C-8B39-1B9B6EEC2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6A22EC6F-FC34-48F7-9784-1CD73EF1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9BA5A73-83E1-4570-9B66-4D08D73B9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7B88F89-8F8C-438B-8E15-0EE85F10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723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4C4675-383E-4DFD-AA85-F4638A37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06BE347F-785F-40DB-B2E4-DF936DDA2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86C95763-4BA0-4E11-B60A-0CC15115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626812B-AC19-48DF-82E0-1BEEB20A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41FF938-0E16-46D0-A6AF-B6E96248C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647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E34E3A0-FFC4-4040-AD3B-6B23AFDAD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2B37582A-2044-4EDB-A03E-6F91AF20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BA1CB110-52A5-4D1C-914B-1BF04F5DB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1809B9A7-1400-424B-A784-40596D3C9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8A8A5B0-C86F-41CA-95F4-8C9DDCB5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972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DA1665-29F2-4CE5-882D-8492D182C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712088FE-1BB3-439A-8F5B-2D9C7B1C0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50E44A3A-5CEF-4B78-8AE7-EE4DC7A01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E57176E0-3A92-4B59-8A15-DA02CF5E3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60B7BE2-E7E5-4304-9E01-CCDC838E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39F92D8C-1E50-49B4-8C0B-DA2703084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45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7021975-0FDF-44B2-BFD6-BDDC7C79E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4424D3A-5384-47CB-B213-9D19E2578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BD019713-8C90-4EE7-A349-A57B8500B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F2DC350B-8920-47B7-90C9-CEDE9613F7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6A0AC4E5-6E02-463E-B1B3-0DD26B03B1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C7FC42B1-BA7D-43FC-82AC-355F2168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198AD83D-ED20-4AA3-8BBF-C303A7C67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350E1190-79A7-44BB-97F4-57602A0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99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7042C6-6960-4AC3-B3AE-7258B4AA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ED129ED5-5194-4416-9E94-F98390B59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A78564F6-E03D-454E-9AE9-01FF84A3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D132123D-095B-4486-9D21-A567CFA9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93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B27DA116-2C79-45D1-B3F1-F56B25E9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6599404A-3343-48F2-AD3D-6ABC1123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9649F142-FE13-4549-AEB3-2F06A062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74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047F195-53B9-48AB-943C-84B3F7886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7B741D7-6853-4F7C-930C-135816D6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1B725EF-99D4-44BA-9465-E829FA3B7F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98E6160-0952-4AE2-913E-F8232F2B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4B5C9AC0-5366-42C4-8BB9-1C8360B9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2B8B5BB1-5D14-4939-9A06-0764977B1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450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7C0518C-91FB-4DCB-8E98-552FE2897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703F00A5-DEB0-418F-AB3F-983183FF0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290E094-80F1-4FC2-8783-733A8DB98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50F44B36-1E90-4E55-9AAC-46A0985F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291BA349-E599-4C1B-AC3E-A38A074D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B47919F1-6E7A-4911-AF6B-2501E2C9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4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A7EC4B-1C80-4B70-889D-8FBE843B2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0FE18196-29C8-4DC4-BF7D-88B77B67A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7AB300C5-2AD1-4CFD-A6DD-B89DDEC54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648D731-E5C4-4E67-99AB-84B0257C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202B54A7-ABCB-4C3F-996F-AD11C016F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7806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B1BEAF15-7658-41EA-88C7-5B82886E28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74C19DCF-B40B-453D-9B82-AF0B0E65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7121CCB-320D-4153-8BF6-27A6D59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CAA3CB01-7FA7-4574-9FFC-9CA300F84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E78DDC5-4FE1-4C1D-B3D7-B15C19DA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937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3CF4F349-4F35-44F2-82F3-381F16B7E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AB2E560E-50BD-479C-AF89-F8053F17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97555E14-8D41-46D7-BBFA-FBB6E1413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975A-9A0C-43EA-B934-2991F984EF13}" type="datetimeFigureOut">
              <a:rPr lang="es-ES" smtClean="0"/>
              <a:t>12/10/2026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39F706F-2BCD-4D33-989F-92F613F1C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3A71B7D2-AE3A-40D0-8101-C1DF09912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CE601-0D1B-4A6F-A987-F33B7EC9EC3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351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 de texto 2">
            <a:extLst>
              <a:ext uri="{FF2B5EF4-FFF2-40B4-BE49-F238E27FC236}">
                <a16:creationId xmlns:a16="http://schemas.microsoft.com/office/drawing/2014/main" xmlns="" id="{02E966BD-4784-4ED7-A028-7D680FFD23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913859"/>
            <a:ext cx="1524000" cy="4635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</a:ln>
        </p:spPr>
        <p:txBody>
          <a:bodyPr rot="0" vert="horz" wrap="none" lIns="91440" tIns="45720" rIns="91440" bIns="45720" anchor="t" anchorCtr="0">
            <a:no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400" b="1" kern="100" dirty="0" smtClean="0">
                <a:solidFill>
                  <a:srgbClr val="767171"/>
                </a:solidFill>
                <a:latin typeface="Myriad Pro Cond"/>
                <a:ea typeface="Calibri"/>
                <a:cs typeface="Times New Roman"/>
                <a:sym typeface="Times New Roman"/>
              </a:rPr>
              <a:t>2026</a:t>
            </a:r>
            <a:endParaRPr lang="en-US" altLang="zh-CN" sz="2400" b="1" kern="100" dirty="0">
              <a:solidFill>
                <a:srgbClr val="767171"/>
              </a:solidFill>
              <a:latin typeface="Myriad Pro Cond"/>
              <a:ea typeface="Calibri"/>
              <a:cs typeface="Times New Roman"/>
              <a:sym typeface="Times New Roman"/>
            </a:endParaRP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 </a:t>
            </a:r>
          </a:p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en-US" altLang="zh-CN" sz="2700" b="1" kern="100" dirty="0">
                <a:solidFill>
                  <a:srgbClr val="11622F"/>
                </a:solidFill>
                <a:latin typeface="Myriad Pro Cond"/>
                <a:ea typeface="Calibri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2" name="Rectángulo 1"/>
          <p:cNvSpPr/>
          <p:nvPr/>
        </p:nvSpPr>
        <p:spPr>
          <a:xfrm>
            <a:off x="895000" y="2268093"/>
            <a:ext cx="10402000" cy="10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buClr>
                <a:srgbClr val="000000"/>
              </a:buClr>
              <a:buSzPct val="100000"/>
              <a:defRPr/>
            </a:pPr>
            <a:r>
              <a:rPr lang="es-ES" sz="2800" b="1" dirty="0">
                <a:solidFill>
                  <a:prstClr val="black"/>
                </a:solidFill>
                <a:latin typeface="Arial Narrow" pitchFamily="34" charset="0"/>
              </a:rPr>
              <a:t xml:space="preserve">Título: EduControl. Gestión académica con un ArrayList</a:t>
            </a:r>
            <a:endParaRPr lang="es-ES" sz="3200" b="1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" name="3 CuadroTexto"/>
          <p:cNvSpPr txBox="1">
            <a:spLocks noChangeArrowheads="1"/>
          </p:cNvSpPr>
          <p:nvPr/>
        </p:nvSpPr>
        <p:spPr bwMode="auto">
          <a:xfrm>
            <a:off x="895000" y="3573724"/>
            <a:ext cx="10402000" cy="12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7" rIns="91434" bIns="45717">
            <a:spAutoFit/>
          </a:bodyPr>
          <a:lstStyle/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 xml:space="preserve">Estructuras de Datos · Curso 2026-2027 · Equipo 6</a:t>
            </a:r>
          </a:p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 xml:space="preserve">Autores: Pedro Antonio Palacios Gonzalez, Jesus Daniel Bruguera Gallardo,</a:t>
            </a:r>
          </a:p>
          <a:p>
            <a:pPr marL="0" marR="0" lvl="0" indent="0" algn="ctr" defTabSz="91281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 xml:space="preserve">Leonardo Roque Moreno, Caleb Blanco Morejon, Chritian M. Febles Suarez</a:t>
            </a:r>
          </a:p>
        </p:txBody>
      </p:sp>
    </p:spTree>
    <p:extLst>
      <p:ext uri="{BB962C8B-B14F-4D97-AF65-F5344CB8AC3E}">
        <p14:creationId xmlns:p14="http://schemas.microsoft.com/office/powerpoint/2010/main" val="160361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La problemática</a:t>
            </a:r>
            <a:endParaRPr lang="en-US" sz="3400" dirty="0"/>
          </a:p>
        </p:txBody>
      </p:sp>
      <p:sp>
        <p:nvSpPr>
          <p:cNvPr id="3" name="Enunciado"/>
          <p:cNvSpPr txBox="1"/>
          <p:nvPr/>
        </p:nvSpPr>
        <p:spPr>
          <a:xfrm>
            <a:off x="548640" y="146304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 xml:space="preserve">El departamento de informática tiene que procesar las notas de sus estudiantes.</a:t>
            </a:r>
            <a:endParaRPr lang="en-US" sz="2200" dirty="0"/>
          </a:p>
        </p:txBody>
      </p:sp>
      <p:sp>
        <p:nvSpPr>
          <p:cNvPr id="4" name="Etiqueta funciones"/>
          <p:cNvSpPr txBox="1"/>
          <p:nvPr/>
        </p:nvSpPr>
        <p:spPr>
          <a:xfrm>
            <a:off x="548640" y="2697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DEBE HACER EL SISTEMA</a:t>
            </a:r>
            <a:endParaRPr lang="en-US" sz="1200" dirty="0"/>
          </a:p>
        </p:txBody>
      </p:sp>
      <p:sp>
        <p:nvSpPr>
          <p:cNvPr id="5" name="Letra a"/>
          <p:cNvSpPr txBox="1"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Funcion a"/>
          <p:cNvSpPr txBox="1"/>
          <p:nvPr/>
        </p:nvSpPr>
        <p:spPr>
          <a:xfrm>
            <a:off x="1143000" y="3108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Listar los nombres de los aprobados</a:t>
            </a:r>
            <a:endParaRPr lang="en-US" sz="1600" dirty="0"/>
          </a:p>
        </p:txBody>
      </p:sp>
      <p:sp>
        <p:nvSpPr>
          <p:cNvPr id="7" name="Letra b"/>
          <p:cNvSpPr txBox="1"/>
          <p:nvPr/>
        </p:nvSpPr>
        <p:spPr>
          <a:xfrm>
            <a:off x="548640" y="3657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Funcion b"/>
          <p:cNvSpPr txBox="1"/>
          <p:nvPr/>
        </p:nvSpPr>
        <p:spPr>
          <a:xfrm>
            <a:off x="1143000" y="3657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Calcular el promedio general de notas</a:t>
            </a:r>
            <a:endParaRPr lang="en-US" sz="1600" dirty="0"/>
          </a:p>
        </p:txBody>
      </p:sp>
      <p:sp>
        <p:nvSpPr>
          <p:cNvPr id="9" name="Letra c"/>
          <p:cNvSpPr txBox="1"/>
          <p:nvPr/>
        </p:nvSpPr>
        <p:spPr>
          <a:xfrm>
            <a:off x="54864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0" name="Funcion c"/>
          <p:cNvSpPr txBox="1"/>
          <p:nvPr/>
        </p:nvSpPr>
        <p:spPr>
          <a:xfrm>
            <a:off x="1143000" y="4206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Ajustar notas por asistencia (+5, tope 100)</a:t>
            </a:r>
            <a:endParaRPr lang="en-US" sz="1600" dirty="0"/>
          </a:p>
        </p:txBody>
      </p:sp>
      <p:sp>
        <p:nvSpPr>
          <p:cNvPr id="11" name="Letra d"/>
          <p:cNvSpPr txBox="1"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Funcion d"/>
          <p:cNvSpPr txBox="1"/>
          <p:nvPr/>
        </p:nvSpPr>
        <p:spPr>
          <a:xfrm>
            <a:off x="1143000" y="47548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Mostrar el estudiante con mayor asistencia</a:t>
            </a:r>
            <a:endParaRPr lang="en-US" sz="1600" dirty="0"/>
          </a:p>
        </p:txBody>
      </p:sp>
      <p:sp>
        <p:nvSpPr>
          <p:cNvPr id="13" name="Letra e"/>
          <p:cNvSpPr txBox="1"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4" name="Funcion e"/>
          <p:cNvSpPr txBox="1"/>
          <p:nvPr/>
        </p:nvSpPr>
        <p:spPr>
          <a:xfrm>
            <a:off x="1143000" y="53035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Eliminar a los desaprobados</a:t>
            </a:r>
            <a:endParaRPr lang="en-US" sz="1600" dirty="0"/>
          </a:p>
        </p:txBody>
      </p:sp>
      <p:sp>
        <p:nvSpPr>
          <p:cNvPr id="15" name="Tarjeta estudiante"/>
          <p:cNvSpPr/>
          <p:nvPr/>
        </p:nvSpPr>
        <p:spPr>
          <a:xfrm>
            <a:off x="6400800" y="1463040"/>
            <a:ext cx="521208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itulo tarjeta"/>
          <p:cNvSpPr txBox="1"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 xml:space="preserve">De cada estudiante se conoce</a:t>
            </a:r>
            <a:endParaRPr lang="en-US" sz="2000" dirty="0"/>
          </a:p>
        </p:txBody>
      </p:sp>
      <p:sp>
        <p:nvSpPr>
          <p:cNvPr id="17" name="Circulo icono 1"/>
          <p:cNvSpPr/>
          <p:nvPr/>
        </p:nvSpPr>
        <p:spPr>
          <a:xfrm>
            <a:off x="6766560" y="237744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Image 0" descr="i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542032"/>
            <a:ext cx="310896" cy="310896"/>
          </a:xfrm>
          <a:prstGeom prst="rect">
            <a:avLst/>
          </a:prstGeom>
        </p:spPr>
      </p:pic>
      <p:sp>
        <p:nvSpPr>
          <p:cNvPr id="19" name="Atributo 1"/>
          <p:cNvSpPr txBox="1"/>
          <p:nvPr/>
        </p:nvSpPr>
        <p:spPr>
          <a:xfrm>
            <a:off x="758952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 xml:space="preserve">id</a:t>
            </a:r>
            <a:endParaRPr lang="en-US" sz="1800" dirty="0"/>
          </a:p>
        </p:txBody>
      </p:sp>
      <p:sp>
        <p:nvSpPr>
          <p:cNvPr id="20" name="Detalle atributo 1"/>
          <p:cNvSpPr txBox="1"/>
          <p:nvPr/>
        </p:nvSpPr>
        <p:spPr>
          <a:xfrm>
            <a:off x="7589520" y="270662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Identificador único del estudiante</a:t>
            </a:r>
            <a:endParaRPr lang="en-US" sz="1400" dirty="0"/>
          </a:p>
        </p:txBody>
      </p:sp>
      <p:sp>
        <p:nvSpPr>
          <p:cNvPr id="21" name="Circulo icono 2"/>
          <p:cNvSpPr/>
          <p:nvPr/>
        </p:nvSpPr>
        <p:spPr>
          <a:xfrm>
            <a:off x="6766560" y="324612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2" name="Image 1" descr="nomb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3410712"/>
            <a:ext cx="310896" cy="310896"/>
          </a:xfrm>
          <a:prstGeom prst="rect">
            <a:avLst/>
          </a:prstGeom>
        </p:spPr>
      </p:pic>
      <p:sp>
        <p:nvSpPr>
          <p:cNvPr id="23" name="Atributo 2"/>
          <p:cNvSpPr txBox="1"/>
          <p:nvPr/>
        </p:nvSpPr>
        <p:spPr>
          <a:xfrm>
            <a:off x="7589520" y="32278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 xml:space="preserve">nombre</a:t>
            </a:r>
            <a:endParaRPr lang="en-US" sz="1800" dirty="0"/>
          </a:p>
        </p:txBody>
      </p:sp>
      <p:sp>
        <p:nvSpPr>
          <p:cNvPr id="24" name="Detalle atributo 2"/>
          <p:cNvSpPr txBox="1"/>
          <p:nvPr/>
        </p:nvSpPr>
        <p:spPr>
          <a:xfrm>
            <a:off x="7589520" y="35753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Nombre del estudiante</a:t>
            </a:r>
            <a:endParaRPr lang="en-US" sz="1400" dirty="0"/>
          </a:p>
        </p:txBody>
      </p:sp>
      <p:sp>
        <p:nvSpPr>
          <p:cNvPr id="25" name="Circulo icono 3"/>
          <p:cNvSpPr/>
          <p:nvPr/>
        </p:nvSpPr>
        <p:spPr>
          <a:xfrm>
            <a:off x="6766560" y="411480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Image 2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4279392"/>
            <a:ext cx="310896" cy="310896"/>
          </a:xfrm>
          <a:prstGeom prst="rect">
            <a:avLst/>
          </a:prstGeom>
        </p:spPr>
      </p:pic>
      <p:sp>
        <p:nvSpPr>
          <p:cNvPr id="27" name="Atributo 3"/>
          <p:cNvSpPr txBox="1"/>
          <p:nvPr/>
        </p:nvSpPr>
        <p:spPr>
          <a:xfrm>
            <a:off x="7589520" y="4096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 xml:space="preserve">nota</a:t>
            </a:r>
            <a:endParaRPr lang="en-US" sz="1800" dirty="0"/>
          </a:p>
        </p:txBody>
      </p:sp>
      <p:sp>
        <p:nvSpPr>
          <p:cNvPr id="28" name="Detalle atributo 3"/>
          <p:cNvSpPr txBox="1"/>
          <p:nvPr/>
        </p:nvSpPr>
        <p:spPr>
          <a:xfrm>
            <a:off x="7589520" y="444398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Calificación entre 0 y 100</a:t>
            </a:r>
            <a:endParaRPr lang="en-US" sz="1400" dirty="0"/>
          </a:p>
        </p:txBody>
      </p:sp>
      <p:sp>
        <p:nvSpPr>
          <p:cNvPr id="29" name="Circulo icono 4"/>
          <p:cNvSpPr/>
          <p:nvPr/>
        </p:nvSpPr>
        <p:spPr>
          <a:xfrm>
            <a:off x="6766560" y="498348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30" name="Image 3" descr="asistenci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5148072"/>
            <a:ext cx="310896" cy="310896"/>
          </a:xfrm>
          <a:prstGeom prst="rect">
            <a:avLst/>
          </a:prstGeom>
        </p:spPr>
      </p:pic>
      <p:sp>
        <p:nvSpPr>
          <p:cNvPr id="31" name="Atributo 4"/>
          <p:cNvSpPr txBox="1"/>
          <p:nvPr/>
        </p:nvSpPr>
        <p:spPr>
          <a:xfrm>
            <a:off x="7589520" y="4965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 xml:space="preserve">asistencia</a:t>
            </a:r>
            <a:endParaRPr lang="en-US" sz="1800" dirty="0"/>
          </a:p>
        </p:txBody>
      </p:sp>
      <p:sp>
        <p:nvSpPr>
          <p:cNvPr id="32" name="Detalle atributo 4"/>
          <p:cNvSpPr txBox="1"/>
          <p:nvPr/>
        </p:nvSpPr>
        <p:spPr>
          <a:xfrm>
            <a:off x="7589520" y="531266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Porciento de asistencia (0 a 100)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La estructura de datos: ArrayList</a:t>
            </a:r>
            <a:endParaRPr lang="en-US" sz="3400" dirty="0"/>
          </a:p>
        </p:txBody>
      </p:sp>
      <p:sp>
        <p:nvSpPr>
          <p:cNvPr id="3" name="Etiqueta head"/>
          <p:cNvSpPr txBox="1"/>
          <p:nvPr/>
        </p:nvSpPr>
        <p:spPr>
          <a:xfrm>
            <a:off x="548640" y="2148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 xml:space="preserve">elements</a:t>
            </a:r>
            <a:endParaRPr lang="en-US" sz="1800" dirty="0"/>
          </a:p>
        </p:txBody>
      </p:sp>
      <p:sp>
        <p:nvSpPr>
          <p:cNvPr id="5" name="Celda 1"/>
          <p:cNvSpPr txBox="1"/>
          <p:nvPr/>
        </p:nvSpPr>
        <p:spPr>
          <a:xfrm>
            <a:off x="1828800" y="1920240"/>
            <a:ext cx="128016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[0]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Rita</a:t>
            </a:r>
            <a:endParaRPr lang="en-US" sz="1400" dirty="0"/>
          </a:p>
        </p:txBody>
      </p:sp>
      <p:sp>
        <p:nvSpPr>
          <p:cNvPr id="9" name="Celda 2"/>
          <p:cNvSpPr txBox="1"/>
          <p:nvPr/>
        </p:nvSpPr>
        <p:spPr>
          <a:xfrm>
            <a:off x="3108960" y="1920240"/>
            <a:ext cx="128016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[1]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Luis</a:t>
            </a:r>
            <a:endParaRPr lang="en-US" sz="1400" dirty="0"/>
          </a:p>
        </p:txBody>
      </p:sp>
      <p:sp>
        <p:nvSpPr>
          <p:cNvPr id="13" name="Celda 3"/>
          <p:cNvSpPr txBox="1"/>
          <p:nvPr/>
        </p:nvSpPr>
        <p:spPr>
          <a:xfrm>
            <a:off x="4389120" y="1920240"/>
            <a:ext cx="128016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[2]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Eva</a:t>
            </a:r>
            <a:endParaRPr lang="en-US" sz="1400" dirty="0"/>
          </a:p>
        </p:txBody>
      </p:sp>
      <p:sp>
        <p:nvSpPr>
          <p:cNvPr id="17" name="Celda 4"/>
          <p:cNvSpPr txBox="1"/>
          <p:nvPr/>
        </p:nvSpPr>
        <p:spPr>
          <a:xfrm>
            <a:off x="5669280" y="1920240"/>
            <a:ext cx="1280160" cy="914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[3]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Ivan</a:t>
            </a:r>
            <a:endParaRPr lang="en-US" sz="1400" dirty="0"/>
          </a:p>
        </p:txBody>
      </p:sp>
      <p:sp>
        <p:nvSpPr>
          <p:cNvPr id="21" name="Celda 5"/>
          <p:cNvSpPr txBox="1"/>
          <p:nvPr/>
        </p:nvSpPr>
        <p:spPr>
          <a:xfrm>
            <a:off x="6949440" y="1920240"/>
            <a:ext cx="1280160" cy="9144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[4]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0" dirty="0">
                <a:solidFill>
                  <a:schemeClr val="accent4"/>
                </a:solidFill>
              </a:rPr>
              <a:t xml:space="preserve">null</a:t>
            </a:r>
            <a:endParaRPr lang="en-US" sz="1400" dirty="0"/>
          </a:p>
        </p:txBody>
      </p:sp>
      <p:sp>
        <p:nvSpPr>
          <p:cNvPr id="25" name="Etiqueta null"/>
          <p:cNvSpPr txBox="1"/>
          <p:nvPr/>
        </p:nvSpPr>
        <p:spPr>
          <a:xfrm>
            <a:off x="9646920" y="21488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accent1"/>
                </a:solidFill>
              </a:rPr>
              <a:t xml:space="preserve">… hasta 10</a:t>
            </a:r>
            <a:endParaRPr lang="en-US" sz="1800" dirty="0"/>
          </a:p>
        </p:txBody>
      </p:sp>
      <p:sp>
        <p:nvSpPr>
          <p:cNvPr id="26" name="Pie diagrama"/>
          <p:cNvSpPr txBox="1"/>
          <p:nvPr/>
        </p:nvSpPr>
        <p:spPr>
          <a:xfrm>
            <a:off x="548640" y="30632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 xml:space="preserve">Ejemplo con 4 estudiantes: tamano = 4 y capacidad = 10; las celdas libres valen null</a:t>
            </a:r>
            <a:endParaRPr lang="en-US" sz="1200" dirty="0"/>
          </a:p>
        </p:txBody>
      </p:sp>
      <p:sp>
        <p:nvSpPr>
          <p:cNvPr id="27" name="Tarjeta 1"/>
          <p:cNvSpPr/>
          <p:nvPr/>
        </p:nvSpPr>
        <p:spPr>
          <a:xfrm>
            <a:off x="54864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itulo tarjeta 1"/>
          <p:cNvSpPr txBox="1"/>
          <p:nvPr/>
        </p:nvSpPr>
        <p:spPr>
          <a:xfrm>
            <a:off x="82296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 xml:space="preserve">Arreglo interno</a:t>
            </a:r>
            <a:endParaRPr lang="en-US" sz="2000" dirty="0"/>
          </a:p>
        </p:txBody>
      </p:sp>
      <p:sp>
        <p:nvSpPr>
          <p:cNvPr id="29" name="Texto tarjeta 1"/>
          <p:cNvSpPr txBox="1"/>
          <p:nvPr/>
        </p:nvSpPr>
        <p:spPr>
          <a:xfrm>
            <a:off x="82296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Guarda los datos en un Object[] de capacidad fija (10 al inicio). tamano cuenta los espacios usados.</a:t>
            </a:r>
            <a:endParaRPr lang="en-US" sz="1400" dirty="0"/>
          </a:p>
        </p:txBody>
      </p:sp>
      <p:sp>
        <p:nvSpPr>
          <p:cNvPr id="30" name="Tarjeta 2"/>
          <p:cNvSpPr/>
          <p:nvPr/>
        </p:nvSpPr>
        <p:spPr>
          <a:xfrm>
            <a:off x="429768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1" name="Titulo tarjeta 2"/>
          <p:cNvSpPr txBox="1"/>
          <p:nvPr/>
        </p:nvSpPr>
        <p:spPr>
          <a:xfrm>
            <a:off x="457200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 xml:space="preserve">Crece solo</a:t>
            </a:r>
            <a:endParaRPr lang="en-US" sz="2000" dirty="0"/>
          </a:p>
        </p:txBody>
      </p:sp>
      <p:sp>
        <p:nvSpPr>
          <p:cNvPr id="32" name="Texto tarjeta 2"/>
          <p:cNvSpPr txBox="1"/>
          <p:nvPr/>
        </p:nvSpPr>
        <p:spPr>
          <a:xfrm>
            <a:off x="457200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Si se llena, verificarcapacidad() copia todo a un arreglo 1,5 veces mayor con Arrays.copyOf.</a:t>
            </a:r>
            <a:endParaRPr lang="en-US" sz="1400" dirty="0"/>
          </a:p>
        </p:txBody>
      </p:sp>
      <p:sp>
        <p:nvSpPr>
          <p:cNvPr id="33" name="Tarjeta 3"/>
          <p:cNvSpPr/>
          <p:nvPr/>
        </p:nvSpPr>
        <p:spPr>
          <a:xfrm>
            <a:off x="8046720" y="3657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Titulo tarjeta 3"/>
          <p:cNvSpPr txBox="1"/>
          <p:nvPr/>
        </p:nvSpPr>
        <p:spPr>
          <a:xfrm>
            <a:off x="832104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 xml:space="preserve">Ventajas y costos</a:t>
            </a:r>
            <a:endParaRPr lang="en-US" sz="2000" dirty="0"/>
          </a:p>
        </p:txBody>
      </p:sp>
      <p:sp>
        <p:nvSpPr>
          <p:cNvPr id="35" name="Texto tarjeta 3"/>
          <p:cNvSpPr txBox="1"/>
          <p:nvPr/>
        </p:nvSpPr>
        <p:spPr>
          <a:xfrm>
            <a:off x="8321040" y="438912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Rápido: acceso por índice y agregar o quitar al final. Lento: insertar o quitar al inicio o en medio. Gasta más memoria.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37" name="Celda 6"/>
          <p:cNvSpPr txBox="1"/>
          <p:nvPr/>
        </p:nvSpPr>
        <p:spPr>
          <a:xfrm>
            <a:off x="8229600" y="1920240"/>
            <a:ext cx="1280160" cy="914400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0" dirty="0">
                <a:solidFill>
                  <a:schemeClr val="accent4"/>
                </a:solidFill>
              </a:rPr>
              <a:t xml:space="preserve">[5]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0" dirty="0">
                <a:solidFill>
                  <a:schemeClr val="accent4"/>
                </a:solidFill>
              </a:rPr>
              <a:t xml:space="preserve">null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Diseño de clases</a:t>
            </a:r>
            <a:endParaRPr lang="en-US" sz="3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8" name="App caja"/>
          <p:cNvSpPr/>
          <p:nvPr/>
        </p:nvSpPr>
        <p:spPr>
          <a:xfrm>
            <a:off x="548640" y="1176237"/>
            <a:ext cx="4754880" cy="1123298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App titulo"/>
          <p:cNvSpPr txBox="1"/>
          <p:nvPr/>
        </p:nvSpPr>
        <p:spPr>
          <a:xfrm>
            <a:off x="548640" y="1176237"/>
            <a:ext cx="4754880" cy="388833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 xml:space="preserve">App</a:t>
            </a:r>
            <a:endParaRPr lang="en-US" sz="1400" dirty="0"/>
          </a:p>
        </p:txBody>
      </p:sp>
      <p:sp>
        <p:nvSpPr>
          <p:cNvPr id="40" name="App miembros"/>
          <p:cNvSpPr txBox="1"/>
          <p:nvPr/>
        </p:nvSpPr>
        <p:spPr>
          <a:xfrm>
            <a:off x="685800" y="1625556"/>
            <a:ext cx="4480560" cy="62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main(): muestra el menú de 8 opciones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leerDouble() · leerTexto(): validan la entrada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ejecutarPruebas(): opción 8 (24 pruebas)</a:t>
            </a:r>
            <a:endParaRPr lang="en-US" sz="1200" dirty="0"/>
          </a:p>
        </p:txBody>
      </p:sp>
      <p:sp>
        <p:nvSpPr>
          <p:cNvPr id="41" name="Departamento caja"/>
          <p:cNvSpPr/>
          <p:nvPr/>
        </p:nvSpPr>
        <p:spPr>
          <a:xfrm>
            <a:off x="6858000" y="1176237"/>
            <a:ext cx="4754880" cy="1952810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2" name="Departamento titulo"/>
          <p:cNvSpPr txBox="1"/>
          <p:nvPr/>
        </p:nvSpPr>
        <p:spPr>
          <a:xfrm>
            <a:off x="6858000" y="1176237"/>
            <a:ext cx="4754880" cy="388833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 xml:space="preserve">Departamento</a:t>
            </a:r>
            <a:endParaRPr lang="en-US" sz="1400" dirty="0"/>
          </a:p>
        </p:txBody>
      </p:sp>
      <p:sp>
        <p:nvSpPr>
          <p:cNvPr id="43" name="Departamento miembros"/>
          <p:cNvSpPr txBox="1"/>
          <p:nvPr/>
        </p:nvSpPr>
        <p:spPr>
          <a:xfrm>
            <a:off x="6995160" y="1625556"/>
            <a:ext cx="4480560" cy="1451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estudiantes: Elarraylist&lt;Estudiante&gt;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proximoId: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agregar() · validarlista()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estudiantesAprobados() · promedioGeneral()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ajustarNotasPorAsistencia()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estudianteMayorAsistencia()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eliminarEstudiantesReprobados()</a:t>
            </a:r>
            <a:endParaRPr lang="en-US" sz="1200" dirty="0"/>
          </a:p>
        </p:txBody>
      </p:sp>
      <p:sp>
        <p:nvSpPr>
          <p:cNvPr id="44" name="Elarraylist caja"/>
          <p:cNvSpPr/>
          <p:nvPr/>
        </p:nvSpPr>
        <p:spPr>
          <a:xfrm>
            <a:off x="6858000" y="3700000"/>
            <a:ext cx="4754880" cy="153805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5" name="Elarraylist titulo"/>
          <p:cNvSpPr txBox="1"/>
          <p:nvPr/>
        </p:nvSpPr>
        <p:spPr>
          <a:xfrm>
            <a:off x="6858000" y="3700000"/>
            <a:ext cx="4754880" cy="388833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 xml:space="preserve">Elarraylist&lt;T&gt;</a:t>
            </a:r>
            <a:endParaRPr lang="en-US" sz="1400" dirty="0"/>
          </a:p>
        </p:txBody>
      </p:sp>
      <p:sp>
        <p:nvSpPr>
          <p:cNvPr id="46" name="Elarraylist miembros"/>
          <p:cNvSpPr txBox="1"/>
          <p:nvPr/>
        </p:nvSpPr>
        <p:spPr>
          <a:xfrm>
            <a:off x="6995160" y="4149319"/>
            <a:ext cx="4480560" cy="1036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elements: Object[] · capacidad: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tamano: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add(T) · get(int) · remove(int)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size() · toString()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verificarcapacidad(): crece 1,5 veces</a:t>
            </a:r>
            <a:endParaRPr lang="en-US" sz="1200" dirty="0"/>
          </a:p>
        </p:txBody>
      </p:sp>
      <p:sp>
        <p:nvSpPr>
          <p:cNvPr id="47" name="Estudiante caja"/>
          <p:cNvSpPr/>
          <p:nvPr/>
        </p:nvSpPr>
        <p:spPr>
          <a:xfrm>
            <a:off x="548640" y="3700000"/>
            <a:ext cx="4754880" cy="1538054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8" name="Estudiante titulo"/>
          <p:cNvSpPr txBox="1"/>
          <p:nvPr/>
        </p:nvSpPr>
        <p:spPr>
          <a:xfrm>
            <a:off x="548640" y="3700000"/>
            <a:ext cx="4754880" cy="388833"/>
          </a:xfrm>
          <a:prstGeom prst="rect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 xml:space="preserve">Estudiante</a:t>
            </a:r>
            <a:endParaRPr lang="en-US" sz="1400" dirty="0"/>
          </a:p>
        </p:txBody>
      </p:sp>
      <p:sp>
        <p:nvSpPr>
          <p:cNvPr id="49" name="Estudiante miembros"/>
          <p:cNvSpPr txBox="1"/>
          <p:nvPr/>
        </p:nvSpPr>
        <p:spPr>
          <a:xfrm>
            <a:off x="685800" y="4149319"/>
            <a:ext cx="4480560" cy="1036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id: int · nombre: String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nota: double · asist: int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setNota() · setAsist(): validan de 0 a 100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setNombre(): no puede estar vacío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</a:rPr>
              <a:t xml:space="preserve">toString()</a:t>
            </a:r>
            <a:endParaRPr lang="en-US" sz="1200" dirty="0"/>
          </a:p>
        </p:txBody>
      </p:sp>
      <p:sp>
        <p:nvSpPr>
          <p:cNvPr id="50" name="Flecha App"/>
          <p:cNvSpPr/>
          <p:nvPr/>
        </p:nvSpPr>
        <p:spPr>
          <a:xfrm>
            <a:off x="5303520" y="1370653"/>
            <a:ext cx="15544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1" name="Etiqueta usa 1"/>
          <p:cNvSpPr txBox="1"/>
          <p:nvPr/>
        </p:nvSpPr>
        <p:spPr>
          <a:xfrm>
            <a:off x="5303520" y="1110653"/>
            <a:ext cx="1554480" cy="216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 xml:space="preserve">usa</a:t>
            </a:r>
            <a:endParaRPr lang="en-US" sz="1100" dirty="0"/>
          </a:p>
        </p:txBody>
      </p:sp>
      <p:sp>
        <p:nvSpPr>
          <p:cNvPr id="52" name="Flecha Departamento"/>
          <p:cNvSpPr/>
          <p:nvPr/>
        </p:nvSpPr>
        <p:spPr>
          <a:xfrm>
            <a:off x="9235440" y="3129047"/>
            <a:ext cx="0" cy="570953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3" name="Etiqueta usa 2"/>
          <p:cNvSpPr txBox="1"/>
          <p:nvPr/>
        </p:nvSpPr>
        <p:spPr>
          <a:xfrm>
            <a:off x="9326880" y="3249047"/>
            <a:ext cx="2400000" cy="216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chemeClr val="accent4"/>
                </a:solidFill>
              </a:rPr>
              <a:t xml:space="preserve">guarda los estudiantes en</a:t>
            </a:r>
            <a:endParaRPr lang="en-US" sz="1100" dirty="0"/>
          </a:p>
        </p:txBody>
      </p:sp>
      <p:sp>
        <p:nvSpPr>
          <p:cNvPr id="54" name="Flecha Elarraylist"/>
          <p:cNvSpPr/>
          <p:nvPr/>
        </p:nvSpPr>
        <p:spPr>
          <a:xfrm flipH="1">
            <a:off x="5303520" y="3894416"/>
            <a:ext cx="155448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5" name="Etiqueta guarda"/>
          <p:cNvSpPr txBox="1"/>
          <p:nvPr/>
        </p:nvSpPr>
        <p:spPr>
          <a:xfrm>
            <a:off x="5303520" y="3634416"/>
            <a:ext cx="1554480" cy="216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4"/>
                </a:solidFill>
              </a:rPr>
              <a:t xml:space="preserve">T = Estudiante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a) estudiantesAprobados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Elarraylist&lt;String&gt; estudiantesAprobados(double notaMinima)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</a:t>
            </a:r>
            <a:r>
              <a:rPr lang="en-US" sz="1200" b="1" dirty="0" smtClean="0">
                <a:solidFill>
                  <a:schemeClr val="accent2"/>
                </a:solidFill>
              </a:rPr>
              <a:t>HACE?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Devuelve los nombres de los estudiantes con nota mayor o igual a la mínima (la mínima se incluye).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Valida que haya estudiantes y que la nota mínima esté entre 1 y 100.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Recorre la lista y compara la nota de cada estudiante.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Si nota &gt;= mínima, agrega su nombre a un nuevo Elarraylist.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 xml:space="preserve"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Departamento.java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public Elarraylist&lt;String&gt; estudiantesAprobados(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double notaMinima) throws Exception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validarlista();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if (notaMinima &lt; 1 || notaMinima &gt; 100)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throw new IllegalArgumentException(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"Nota Incorrecta, tiene que ser una nota entre 1 y 100");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Elarraylist&lt;String&gt; aprobados = new Elarraylist&lt;&gt;();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 (int i = 0; i &lt; estudiantes.size();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(estudiantes.get(i).getNota() &gt;= notaMinima)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aprobados.add(estudiantes.get(i).getNombre());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aprobados;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b) promedioGeneral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double promedioGeneral()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Calcula la media aritmética de las notas de todos los estudiantes del departamento.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Valida que haya estudiantes (si no, lanza NullPointerException).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Recorre la lista y va sumando las notas en suma.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Devuelve suma dividida entre la cantidad de estudiantes.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 xml:space="preserve"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Departamento.java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public double promedioGeneral()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validarlista();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double suma = 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 (int i = 0; i &lt; estudiantes.size(); i++) {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suma += estudiantes.get(i).getNota();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suma / estudiantes.size();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c) ajustarNotasPorAsistencia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int ajustarNotasPorAsistencia()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Suma 5 puntos a la nota de quien tiene 90 % de asistencia o más, sin pasar de 100. Devuelve cuántos ajustó.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Valida que haya estudiantes y recorre la lista.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Si la asistencia es &gt;= 90, calcula la nota nueva con Math.min(nota + 5, 100).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Cuenta los estudiantes ajustados y devuelve el total.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 xml:space="preserve"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Departamento.java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public int ajustarNotasPorAsistencia()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validarlista();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int ajustados = 0;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 (int i = 0; i &lt; estudiantes.size(); i++)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Estudiante e = estudiantes.get(i);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(e.getAsist() &gt;= 90)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e.setNota(Math.min(e.getNota() + 5, 100));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ajustados++;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ajustados;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d) estudianteMayorAsistencia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Estudiante estudianteMayorAsistencia()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Devuelve el estudiante con el mayor porciento de asistencia. En un empate se queda con el primero.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Valida que haya estudiantes y toma al primero como mayor.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Recorre desde el índice 1 comparando la asistencia con la del mayor.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87832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Si alguien tiene más asistencia (&gt;), pasa a ser el mayor; al final lo devuelve.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 xml:space="preserve">Costo: O(n), un solo recorrido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Departamento.java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public Estudiante estudianteMayorAsistencia() {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validarlista();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Estudiante mayor = estudiantes.get(0);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 (int i = 1; i &lt; estudiantes.size(); i++) {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(estudiantes.get(i).getAsist() &gt; mayor.getAsist()) {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mayor = estudiantes.get(i);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mayor;</a:t>
            </a:r>
            <a:endParaRPr lang="en-US" sz="13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 xml:space="preserve">e) eliminarEstudiantesReprobados</a:t>
            </a:r>
            <a:endParaRPr lang="en-US" sz="3400" dirty="0"/>
          </a:p>
        </p:txBody>
      </p:sp>
      <p:sp>
        <p:nvSpPr>
          <p:cNvPr id="3" name="Firma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int eliminarEstudiantesReprobados(double notaCorte)</a:t>
            </a:r>
            <a:endParaRPr lang="en-US" sz="1400" dirty="0"/>
          </a:p>
        </p:txBody>
      </p:sp>
      <p:sp>
        <p:nvSpPr>
          <p:cNvPr id="4" name="Etiqueta idea"/>
          <p:cNvSpPr txBox="1"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QUÉ HACE</a:t>
            </a:r>
            <a:endParaRPr lang="en-US" sz="1200" dirty="0"/>
          </a:p>
        </p:txBody>
      </p:sp>
      <p:sp>
        <p:nvSpPr>
          <p:cNvPr id="5" name="Idea"/>
          <p:cNvSpPr txBox="1"/>
          <p:nvPr/>
        </p:nvSpPr>
        <p:spPr>
          <a:xfrm>
            <a:off x="548640" y="19202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Elimina a los estudiantes con nota menor que la de corte y devuelve cuántos eliminó.</a:t>
            </a:r>
            <a:endParaRPr lang="en-US" sz="1600" dirty="0"/>
          </a:p>
        </p:txBody>
      </p:sp>
      <p:sp>
        <p:nvSpPr>
          <p:cNvPr id="6" name="Etiqueta pasos"/>
          <p:cNvSpPr txBox="1"/>
          <p:nvPr/>
        </p:nvSpPr>
        <p:spPr>
          <a:xfrm>
            <a:off x="548640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PASOS</a:t>
            </a:r>
            <a:endParaRPr lang="en-US" sz="1200" dirty="0"/>
          </a:p>
        </p:txBody>
      </p:sp>
      <p:sp>
        <p:nvSpPr>
          <p:cNvPr id="7" name="Numero paso 1"/>
          <p:cNvSpPr txBox="1"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Paso 1"/>
          <p:cNvSpPr txBox="1"/>
          <p:nvPr/>
        </p:nvSpPr>
        <p:spPr>
          <a:xfrm>
            <a:off x="1143000" y="341071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Valida que haya estudiantes y que la nota de corte esté entre 1 y 100.</a:t>
            </a:r>
            <a:endParaRPr lang="en-US" sz="1400" dirty="0"/>
          </a:p>
        </p:txBody>
      </p:sp>
      <p:sp>
        <p:nvSpPr>
          <p:cNvPr id="9" name="Numero paso 2"/>
          <p:cNvSpPr txBox="1"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2"/>
          <p:cNvSpPr txBox="1"/>
          <p:nvPr/>
        </p:nvSpPr>
        <p:spPr>
          <a:xfrm>
            <a:off x="1143000" y="418795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Recorre la lista de atrás hacia adelante para no saltarse elementos al borrar.</a:t>
            </a:r>
            <a:endParaRPr lang="en-US" sz="1400" dirty="0"/>
          </a:p>
        </p:txBody>
      </p:sp>
      <p:sp>
        <p:nvSpPr>
          <p:cNvPr id="11" name="Numero paso 3"/>
          <p:cNvSpPr txBox="1"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Paso 3"/>
          <p:cNvSpPr txBox="1"/>
          <p:nvPr/>
        </p:nvSpPr>
        <p:spPr>
          <a:xfrm>
            <a:off x="1143000" y="49651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Si nota &lt; corte, llama a remove(i) y suma uno al total.</a:t>
            </a:r>
            <a:endParaRPr lang="en-US" sz="1400" dirty="0"/>
          </a:p>
        </p:txBody>
      </p:sp>
      <p:sp>
        <p:nvSpPr>
          <p:cNvPr id="13" name="Costo"/>
          <p:cNvSpPr txBox="1"/>
          <p:nvPr/>
        </p:nvSpPr>
        <p:spPr>
          <a:xfrm>
            <a:off x="548640" y="5852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 xml:space="preserve">Costo: O(n²), remove desplaza elementos</a:t>
            </a:r>
            <a:endParaRPr lang="en-US" sz="1200" dirty="0"/>
          </a:p>
        </p:txBody>
      </p:sp>
      <p:sp>
        <p:nvSpPr>
          <p:cNvPr id="14" name="Tarjeta codigo"/>
          <p:cNvSpPr/>
          <p:nvPr/>
        </p:nvSpPr>
        <p:spPr>
          <a:xfrm>
            <a:off x="4572000" y="1645920"/>
            <a:ext cx="7040880" cy="41300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5" name="Etiqueta codigo"/>
          <p:cNvSpPr txBox="1"/>
          <p:nvPr/>
        </p:nvSpPr>
        <p:spPr>
          <a:xfrm>
            <a:off x="4846320" y="17300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CÓDIGO · Departamento.java</a:t>
            </a:r>
            <a:endParaRPr lang="en-US" sz="1200" dirty="0"/>
          </a:p>
        </p:txBody>
      </p:sp>
      <p:sp>
        <p:nvSpPr>
          <p:cNvPr id="16" name="Codigo"/>
          <p:cNvSpPr txBox="1"/>
          <p:nvPr/>
        </p:nvSpPr>
        <p:spPr>
          <a:xfrm>
            <a:off x="4846320" y="2000000"/>
            <a:ext cx="6583680" cy="3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public int eliminarEstudiantesReprobados(double notaCorte)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validarlista();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if (notaCorte &gt; 100 || notaCorte &lt; 1)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throw new IllegalArgumentException(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"Nota Incorrecta, tiene que ser una nota entre 1 y 100");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int total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for (int i = estudiantes.size() - 1; i &gt;= 0; i--)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(estudiantes.get(i).getNota() &lt; notaCorte)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estudiantes.remove(i);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total++;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return total;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3400" b="1" dirty="0" smtClean="0">
                <a:solidFill>
                  <a:schemeClr val="tx1"/>
                </a:solidFill>
              </a:rPr>
              <a:t xml:space="preserve">Casos de prueba</a:t>
            </a:r>
            <a:r>
              <a:rPr lang="en-US" sz="3400" b="1" dirty="0" smtClean="0"/>
              <a:t xml:space="preserve">:</a:t>
            </a:r>
            <a:br>
              <a:rPr lang="en-US" sz="3400" b="1" dirty="0" smtClean="0"/>
            </a:br>
            <a:r>
              <a:rPr lang="en-US" sz="3400" b="1" dirty="0" err="1" smtClean="0">
                <a:solidFill>
                  <a:schemeClr val="tx1"/>
                </a:solidFill>
              </a:rPr>
              <a:t xml:space="preserve">Positivas</a:t>
            </a:r>
            <a:r>
              <a:rPr lang="en-US" sz="3400" b="1" dirty="0">
                <a:solidFill>
                  <a:schemeClr val="tx1"/>
                </a:solidFill>
              </a:rPr>
              <a:t xml:space="preserve">, negativas y de borde</a:t>
            </a:r>
            <a:endParaRPr lang="en-US" sz="3400" dirty="0"/>
          </a:p>
        </p:txBody>
      </p:sp>
      <p:sp>
        <p:nvSpPr>
          <p:cNvPr id="30" name="Tarjeta Positivas"/>
          <p:cNvSpPr txBox="1"/>
          <p:nvPr/>
        </p:nvSpPr>
        <p:spPr>
          <a:xfrm>
            <a:off x="54864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31" name="Numero Positivas"/>
          <p:cNvSpPr txBox="1"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2" name="Titulo Positivas"/>
          <p:cNvSpPr txBox="1"/>
          <p:nvPr/>
        </p:nvSpPr>
        <p:spPr>
          <a:xfrm>
            <a:off x="129844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Positivas</a:t>
            </a:r>
          </a:p>
        </p:txBody>
      </p:sp>
      <p:sp>
        <p:nvSpPr>
          <p:cNvPr id="33" name="Subtitulo Positivas"/>
          <p:cNvSpPr txBox="1"/>
          <p:nvPr/>
        </p:nvSpPr>
        <p:spPr>
          <a:xfrm>
            <a:off x="77724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 xml:space="preserve">Flujos normales</a:t>
            </a:r>
          </a:p>
        </p:txBody>
      </p:sp>
      <p:sp>
        <p:nvSpPr>
          <p:cNvPr id="34" name="Casos Positivas"/>
          <p:cNvSpPr txBox="1"/>
          <p:nvPr/>
        </p:nvSpPr>
        <p:spPr>
          <a:xfrm>
            <a:off x="77724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4 estudiantes insertados → promedio 62,5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Mínima 60 → aprueban Luis y Eva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Asistencia ≥ 90 suma 5 puntos (tope 100)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Mayor asistencia → Ivan (100 %)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Corte 60 → elimina 2, quedan Luis y Eva</a:t>
            </a:r>
          </a:p>
        </p:txBody>
      </p:sp>
      <p:sp>
        <p:nvSpPr>
          <p:cNvPr id="35" name="Tarjeta Negativas"/>
          <p:cNvSpPr txBox="1"/>
          <p:nvPr/>
        </p:nvSpPr>
        <p:spPr>
          <a:xfrm>
            <a:off x="432816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36" name="Numero Negativas"/>
          <p:cNvSpPr txBox="1"/>
          <p:nvPr/>
        </p:nvSpPr>
        <p:spPr>
          <a:xfrm>
            <a:off x="455676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7" name="Titulo Negativas"/>
          <p:cNvSpPr txBox="1"/>
          <p:nvPr/>
        </p:nvSpPr>
        <p:spPr>
          <a:xfrm>
            <a:off x="507796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Negativas</a:t>
            </a:r>
          </a:p>
        </p:txBody>
      </p:sp>
      <p:sp>
        <p:nvSpPr>
          <p:cNvPr id="38" name="Subtitulo Negativas"/>
          <p:cNvSpPr txBox="1"/>
          <p:nvPr/>
        </p:nvSpPr>
        <p:spPr>
          <a:xfrm>
            <a:off x="455676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 xml:space="preserve">Excepciones y rechazos</a:t>
            </a:r>
          </a:p>
        </p:txBody>
      </p:sp>
      <p:sp>
        <p:nvSpPr>
          <p:cNvPr id="39" name="Casos Negativas"/>
          <p:cNvSpPr txBox="1"/>
          <p:nvPr/>
        </p:nvSpPr>
        <p:spPr>
          <a:xfrm>
            <a:off x="455676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Nota 150 o nombre en blanco → IllegalArgumentException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Nota mínima o de corte fuera de rango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Lista vacía en cada método → NullPointerException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Mínima 96 → nadie aprueba, lista vacía</a:t>
            </a:r>
          </a:p>
        </p:txBody>
      </p:sp>
      <p:sp>
        <p:nvSpPr>
          <p:cNvPr id="40" name="Tarjeta De borde"/>
          <p:cNvSpPr txBox="1"/>
          <p:nvPr/>
        </p:nvSpPr>
        <p:spPr>
          <a:xfrm>
            <a:off x="8107680" y="1371600"/>
            <a:ext cx="3505200" cy="3900000"/>
          </a:xfrm>
          <a:prstGeom prst="roundRect">
            <a:avLst>
              <a:gd name="adj" fmla="val 35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s-ES" sz="1400"/>
          </a:p>
        </p:txBody>
      </p:sp>
      <p:sp>
        <p:nvSpPr>
          <p:cNvPr id="41" name="Numero De borde"/>
          <p:cNvSpPr txBox="1"/>
          <p:nvPr/>
        </p:nvSpPr>
        <p:spPr>
          <a:xfrm>
            <a:off x="8336280" y="1600200"/>
            <a:ext cx="384048" cy="38404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2" name="Titulo De borde"/>
          <p:cNvSpPr txBox="1"/>
          <p:nvPr/>
        </p:nvSpPr>
        <p:spPr>
          <a:xfrm>
            <a:off x="8857488" y="1600200"/>
            <a:ext cx="2526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000" b="1" dirty="0">
                <a:solidFill>
                  <a:schemeClr val="tx1"/>
                </a:solidFill>
              </a:rPr>
              <a:t>De borde</a:t>
            </a:r>
          </a:p>
        </p:txBody>
      </p:sp>
      <p:sp>
        <p:nvSpPr>
          <p:cNvPr id="43" name="Subtitulo De borde"/>
          <p:cNvSpPr txBox="1"/>
          <p:nvPr/>
        </p:nvSpPr>
        <p:spPr>
          <a:xfrm>
            <a:off x="8336280" y="210312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i="1" dirty="0">
                <a:solidFill>
                  <a:schemeClr val="accent4"/>
                </a:solidFill>
              </a:rPr>
              <a:t xml:space="preserve">Casos límite</a:t>
            </a:r>
          </a:p>
        </p:txBody>
      </p:sp>
      <p:sp>
        <p:nvSpPr>
          <p:cNvPr id="44" name="Casos De borde"/>
          <p:cNvSpPr txBox="1"/>
          <p:nvPr/>
        </p:nvSpPr>
        <p:spPr>
          <a:xfrm>
            <a:off x="8336280" y="2467600"/>
            <a:ext cx="3048000" cy="260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Nota igual a la mínima sí aprueba (&gt;=)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Un solo estudiante: promedio = su nota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Asistencia 90 bonifica, 89 no; 96 → 100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Empate o todos en 0 %: devuelve uno, nunca null</a:t>
            </a:r>
          </a:p>
          <a:p>
            <a:pPr marL="228600" indent="-228600" algn="l">
              <a:spcAft>
                <a:spcPts val="900"/>
              </a:spcAft>
              <a:buClr>
                <a:schemeClr val="accent2"/>
              </a:buClr>
              <a:buFont typeface="Arial"/>
              <a:buChar char="•"/>
            </a:pPr>
            <a:r>
              <a:rPr lang="es-ES" sz="1400" dirty="0">
                <a:solidFill>
                  <a:schemeClr val="tx1"/>
                </a:solidFill>
              </a:rPr>
              <a:t xml:space="preserve">Corte 1 → nadie se elimina</a:t>
            </a:r>
          </a:p>
        </p:txBody>
      </p:sp>
      <p:sp>
        <p:nvSpPr>
          <p:cNvPr id="4" name="Nota pruebas"/>
          <p:cNvSpPr txBox="1"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 xml:space="preserve">Se ejecutan desde la opción 8 del menú: 24 de 24 pruebas correctas (incluye 2 regresiones de bugs ya corregidos).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12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EduControl UPR">
      <a:dk1>
        <a:srgbClr val="1B2B22"/>
      </a:dk1>
      <a:lt1>
        <a:srgbClr val="FFFFFF"/>
      </a:lt1>
      <a:dk2>
        <a:srgbClr val="14532D"/>
      </a:dk2>
      <a:lt2>
        <a:srgbClr val="F1F5F2"/>
      </a:lt2>
      <a:accent1>
        <a:srgbClr val="11622F"/>
      </a:accent1>
      <a:accent2>
        <a:srgbClr val="2F7D4E"/>
      </a:accent2>
      <a:accent3>
        <a:srgbClr val="5EBE7F"/>
      </a:accent3>
      <a:accent4>
        <a:srgbClr val="6B7280"/>
      </a:accent4>
      <a:accent5>
        <a:srgbClr val="4D4D4D"/>
      </a:accent5>
      <a:accent6>
        <a:srgbClr val="A7D8B6"/>
      </a:accent6>
      <a:hlink>
        <a:srgbClr val="11622F"/>
      </a:hlink>
      <a:folHlink>
        <a:srgbClr val="4D4D4D"/>
      </a:folHlink>
    </a:clrScheme>
    <a:fontScheme name="Office">
      <a:majorFont>
        <a:latin typeface="Cambr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1529</Words>
  <Application>Microsoft Office PowerPoint</Application>
  <PresentationFormat>Personalizado</PresentationFormat>
  <Paragraphs>296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La problemática</vt:lpstr>
      <vt:lpstr>La estructura: lista simplemente enlazada</vt:lpstr>
      <vt:lpstr>Diseño de clases</vt:lpstr>
      <vt:lpstr>a) MembresiasPorVencer</vt:lpstr>
      <vt:lpstr>b) MostrarOrdenadosPorDias</vt:lpstr>
      <vt:lpstr>c) CantidadSociosPorMembresia</vt:lpstr>
      <vt:lpstr>d) RenovarMembresia</vt:lpstr>
      <vt:lpstr>e) EliminarSociosSinDias</vt:lpstr>
      <vt:lpstr>Conclusiones: Pruebas: positivas, negativas y de borde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yaniela</dc:creator>
  <cp:lastModifiedBy>DELL</cp:lastModifiedBy>
  <cp:revision>6</cp:revision>
  <dcterms:created xsi:type="dcterms:W3CDTF">2024-09-04T19:51:03Z</dcterms:created>
  <dcterms:modified xsi:type="dcterms:W3CDTF">2026-10-12T18:22:29Z</dcterms:modified>
</cp:coreProperties>
</file>